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4E0EF4-2963-DD42-FE23-3D42090CF9AA}" v="673" dt="2026-03-15T19:13:37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Világos stílus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2026. 03. 15.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Free picture: food, ice cream, hand, sweet, tasty, dessert, cold">
            <a:extLst>
              <a:ext uri="{FF2B5EF4-FFF2-40B4-BE49-F238E27FC236}">
                <a16:creationId xmlns:a16="http://schemas.microsoft.com/office/drawing/2014/main" id="{3DAE703A-EBA8-CFD4-9EAF-C88C7B9562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758" b="1133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hu-HU" sz="115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Sweet Dreams - Fagyizó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hu-HU" sz="3200"/>
              <a:t>Galambos Milán, Pete András, Rein Nicolas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0C6A03-A965-473C-ADDE-B0F1C5C5C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6571AE4-FB8C-5DB7-B907-4BD4EBF8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90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dirty="0">
                <a:solidFill>
                  <a:srgbClr val="FFFFFF"/>
                </a:solidFill>
              </a:rPr>
              <a:t>POST </a:t>
            </a:r>
            <a:r>
              <a:rPr lang="en-US" sz="7200" dirty="0" err="1">
                <a:solidFill>
                  <a:srgbClr val="FFFFFF"/>
                </a:solidFill>
              </a:rPr>
              <a:t>működése</a:t>
            </a:r>
            <a:r>
              <a:rPr lang="en-US" sz="8000" dirty="0">
                <a:solidFill>
                  <a:srgbClr val="FFFFFF"/>
                </a:solidFill>
              </a:rPr>
              <a:t> 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2B0AF0-0BAB-31FA-4A0E-26A3618A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15013"/>
            <a:ext cx="4412417" cy="32667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ea typeface="+mn-lt"/>
                <a:cs typeface="+mn-lt"/>
              </a:rPr>
              <a:t>Rendelés</a:t>
            </a:r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 -&gt; </a:t>
            </a:r>
            <a:endParaRPr lang="hu-HU"/>
          </a:p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ea typeface="+mn-lt"/>
                <a:cs typeface="+mn-lt"/>
              </a:rPr>
              <a:t>választások</a:t>
            </a: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ea typeface="+mn-lt"/>
                <a:cs typeface="+mn-lt"/>
              </a:rPr>
              <a:t>összeszedése</a:t>
            </a: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, </a:t>
            </a:r>
            <a:r>
              <a:rPr lang="en-US" sz="2000" b="1" dirty="0" err="1">
                <a:solidFill>
                  <a:srgbClr val="FFFFFF"/>
                </a:solidFill>
                <a:ea typeface="+mn-lt"/>
                <a:cs typeface="+mn-lt"/>
              </a:rPr>
              <a:t>rendezés</a:t>
            </a: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ea typeface="+mn-lt"/>
                <a:cs typeface="+mn-lt"/>
              </a:rPr>
              <a:t>json</a:t>
            </a: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-ben -&gt; </a:t>
            </a:r>
            <a:endParaRPr lang="en-US"/>
          </a:p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ea typeface="+mn-lt"/>
                <a:cs typeface="+mn-lt"/>
              </a:rPr>
              <a:t>elküldi</a:t>
            </a: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 a </a:t>
            </a:r>
            <a:r>
              <a:rPr lang="en-US" sz="2000" b="1" dirty="0" err="1">
                <a:solidFill>
                  <a:srgbClr val="FFFFFF"/>
                </a:solidFill>
                <a:ea typeface="+mn-lt"/>
                <a:cs typeface="+mn-lt"/>
              </a:rPr>
              <a:t>szervernek</a:t>
            </a: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 POST </a:t>
            </a:r>
            <a:r>
              <a:rPr lang="en-US" sz="2000" b="1" dirty="0" err="1">
                <a:solidFill>
                  <a:srgbClr val="FFFFFF"/>
                </a:solidFill>
                <a:ea typeface="+mn-lt"/>
                <a:cs typeface="+mn-lt"/>
              </a:rPr>
              <a:t>kéréssel</a:t>
            </a:r>
            <a:endParaRPr lang="en-US" sz="2000" b="1" dirty="0">
              <a:solidFill>
                <a:srgbClr val="FFFFFF"/>
              </a:solidFill>
            </a:endParaRPr>
          </a:p>
        </p:txBody>
      </p:sp>
      <p:sp>
        <p:nvSpPr>
          <p:cNvPr id="16" name="!!plus graphic">
            <a:extLst>
              <a:ext uri="{FF2B5EF4-FFF2-40B4-BE49-F238E27FC236}">
                <a16:creationId xmlns:a16="http://schemas.microsoft.com/office/drawing/2014/main" id="{B71758F4-3F46-45DA-8AC5-4E508DA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12034" y="1267063"/>
            <a:ext cx="139037" cy="139039"/>
          </a:xfrm>
          <a:custGeom>
            <a:avLst/>
            <a:gdLst>
              <a:gd name="connsiteX0" fmla="*/ 129600 w 139037"/>
              <a:gd name="connsiteY0" fmla="*/ 60082 h 139039"/>
              <a:gd name="connsiteX1" fmla="*/ 78955 w 139037"/>
              <a:gd name="connsiteY1" fmla="*/ 60082 h 139039"/>
              <a:gd name="connsiteX2" fmla="*/ 78955 w 139037"/>
              <a:gd name="connsiteY2" fmla="*/ 9437 h 139039"/>
              <a:gd name="connsiteX3" fmla="*/ 69519 w 139037"/>
              <a:gd name="connsiteY3" fmla="*/ 0 h 139039"/>
              <a:gd name="connsiteX4" fmla="*/ 60082 w 139037"/>
              <a:gd name="connsiteY4" fmla="*/ 9437 h 139039"/>
              <a:gd name="connsiteX5" fmla="*/ 60082 w 139037"/>
              <a:gd name="connsiteY5" fmla="*/ 60082 h 139039"/>
              <a:gd name="connsiteX6" fmla="*/ 9437 w 139037"/>
              <a:gd name="connsiteY6" fmla="*/ 60082 h 139039"/>
              <a:gd name="connsiteX7" fmla="*/ 0 w 139037"/>
              <a:gd name="connsiteY7" fmla="*/ 69520 h 139039"/>
              <a:gd name="connsiteX8" fmla="*/ 9437 w 139037"/>
              <a:gd name="connsiteY8" fmla="*/ 78957 h 139039"/>
              <a:gd name="connsiteX9" fmla="*/ 60082 w 139037"/>
              <a:gd name="connsiteY9" fmla="*/ 78957 h 139039"/>
              <a:gd name="connsiteX10" fmla="*/ 60082 w 139037"/>
              <a:gd name="connsiteY10" fmla="*/ 129602 h 139039"/>
              <a:gd name="connsiteX11" fmla="*/ 69519 w 139037"/>
              <a:gd name="connsiteY11" fmla="*/ 139039 h 139039"/>
              <a:gd name="connsiteX12" fmla="*/ 78955 w 139037"/>
              <a:gd name="connsiteY12" fmla="*/ 129602 h 139039"/>
              <a:gd name="connsiteX13" fmla="*/ 78955 w 139037"/>
              <a:gd name="connsiteY13" fmla="*/ 78957 h 139039"/>
              <a:gd name="connsiteX14" fmla="*/ 129600 w 139037"/>
              <a:gd name="connsiteY14" fmla="*/ 78957 h 139039"/>
              <a:gd name="connsiteX15" fmla="*/ 139037 w 139037"/>
              <a:gd name="connsiteY15" fmla="*/ 69520 h 139039"/>
              <a:gd name="connsiteX16" fmla="*/ 129600 w 139037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7" h="139039">
                <a:moveTo>
                  <a:pt x="129600" y="60082"/>
                </a:moveTo>
                <a:lnTo>
                  <a:pt x="78955" y="60082"/>
                </a:lnTo>
                <a:lnTo>
                  <a:pt x="78955" y="9437"/>
                </a:lnTo>
                <a:cubicBezTo>
                  <a:pt x="78955" y="4225"/>
                  <a:pt x="74730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7" y="139039"/>
                  <a:pt x="69519" y="139039"/>
                </a:cubicBezTo>
                <a:cubicBezTo>
                  <a:pt x="74730" y="139039"/>
                  <a:pt x="78955" y="134814"/>
                  <a:pt x="78955" y="129602"/>
                </a:cubicBezTo>
                <a:lnTo>
                  <a:pt x="78955" y="78957"/>
                </a:lnTo>
                <a:lnTo>
                  <a:pt x="129600" y="78957"/>
                </a:lnTo>
                <a:cubicBezTo>
                  <a:pt x="134812" y="78957"/>
                  <a:pt x="139037" y="74731"/>
                  <a:pt x="139037" y="69520"/>
                </a:cubicBezTo>
                <a:cubicBezTo>
                  <a:pt x="139037" y="64308"/>
                  <a:pt x="134812" y="60082"/>
                  <a:pt x="129600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8" name="!!Straight Connector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98246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Kép 6" descr="A képen szöveg, képernyőkép, képernyő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08A63D46-1723-6171-6B5D-C5F931288A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717"/>
          <a:stretch>
            <a:fillRect/>
          </a:stretch>
        </p:blipFill>
        <p:spPr>
          <a:xfrm>
            <a:off x="5986926" y="1598246"/>
            <a:ext cx="5569864" cy="4783504"/>
          </a:xfrm>
          <a:prstGeom prst="rect">
            <a:avLst/>
          </a:prstGeom>
        </p:spPr>
      </p:pic>
      <p:sp>
        <p:nvSpPr>
          <p:cNvPr id="20" name="!!circle graphic">
            <a:extLst>
              <a:ext uri="{FF2B5EF4-FFF2-40B4-BE49-F238E27FC236}">
                <a16:creationId xmlns:a16="http://schemas.microsoft.com/office/drawing/2014/main" id="{8D61482F-F3C5-4D66-8C5D-C6BBE3E12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52801" y="1659316"/>
            <a:ext cx="127713" cy="127714"/>
          </a:xfrm>
          <a:custGeom>
            <a:avLst/>
            <a:gdLst>
              <a:gd name="connsiteX0" fmla="*/ 63857 w 127713"/>
              <a:gd name="connsiteY0" fmla="*/ 18874 h 127714"/>
              <a:gd name="connsiteX1" fmla="*/ 108839 w 127713"/>
              <a:gd name="connsiteY1" fmla="*/ 63857 h 127714"/>
              <a:gd name="connsiteX2" fmla="*/ 63857 w 127713"/>
              <a:gd name="connsiteY2" fmla="*/ 108840 h 127714"/>
              <a:gd name="connsiteX3" fmla="*/ 18874 w 127713"/>
              <a:gd name="connsiteY3" fmla="*/ 63857 h 127714"/>
              <a:gd name="connsiteX4" fmla="*/ 63857 w 127713"/>
              <a:gd name="connsiteY4" fmla="*/ 18874 h 127714"/>
              <a:gd name="connsiteX5" fmla="*/ 63857 w 127713"/>
              <a:gd name="connsiteY5" fmla="*/ 0 h 127714"/>
              <a:gd name="connsiteX6" fmla="*/ 0 w 127713"/>
              <a:gd name="connsiteY6" fmla="*/ 63857 h 127714"/>
              <a:gd name="connsiteX7" fmla="*/ 63857 w 127713"/>
              <a:gd name="connsiteY7" fmla="*/ 127714 h 127714"/>
              <a:gd name="connsiteX8" fmla="*/ 127713 w 127713"/>
              <a:gd name="connsiteY8" fmla="*/ 63857 h 127714"/>
              <a:gd name="connsiteX9" fmla="*/ 63857 w 127713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4">
                <a:moveTo>
                  <a:pt x="63857" y="18874"/>
                </a:moveTo>
                <a:cubicBezTo>
                  <a:pt x="88700" y="18874"/>
                  <a:pt x="108839" y="39014"/>
                  <a:pt x="108839" y="63857"/>
                </a:cubicBezTo>
                <a:cubicBezTo>
                  <a:pt x="108839" y="88700"/>
                  <a:pt x="88700" y="108840"/>
                  <a:pt x="63857" y="108840"/>
                </a:cubicBezTo>
                <a:cubicBezTo>
                  <a:pt x="39013" y="108840"/>
                  <a:pt x="18874" y="88700"/>
                  <a:pt x="18874" y="63857"/>
                </a:cubicBezTo>
                <a:cubicBezTo>
                  <a:pt x="18898" y="39024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624335"/>
      </p:ext>
    </p:extLst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22">
            <a:extLst>
              <a:ext uri="{FF2B5EF4-FFF2-40B4-BE49-F238E27FC236}">
                <a16:creationId xmlns:a16="http://schemas.microsoft.com/office/drawing/2014/main" id="{F575A102-D95D-4D6E-8F1B-49EED0AE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24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5A1C624-B7FF-C5A9-71D9-AFB24B1A1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59" y="1377146"/>
            <a:ext cx="4076460" cy="36262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Csapattagok</a:t>
            </a:r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és</a:t>
            </a:r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szerepek</a:t>
            </a:r>
          </a:p>
        </p:txBody>
      </p:sp>
      <p:grpSp>
        <p:nvGrpSpPr>
          <p:cNvPr id="40" name="Group 26">
            <a:extLst>
              <a:ext uri="{FF2B5EF4-FFF2-40B4-BE49-F238E27FC236}">
                <a16:creationId xmlns:a16="http://schemas.microsoft.com/office/drawing/2014/main" id="{CF0FFF1F-79B6-4A13-A464-070CD6F89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42198" y="814999"/>
            <a:ext cx="465458" cy="581435"/>
            <a:chOff x="10942198" y="814999"/>
            <a:chExt cx="465458" cy="581435"/>
          </a:xfrm>
          <a:solidFill>
            <a:srgbClr val="FFFFFF"/>
          </a:solidFill>
        </p:grpSpPr>
        <p:sp>
          <p:nvSpPr>
            <p:cNvPr id="28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7738" y="81499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1" name="Graphic 15">
              <a:extLst>
                <a:ext uri="{FF2B5EF4-FFF2-40B4-BE49-F238E27FC236}">
                  <a16:creationId xmlns:a16="http://schemas.microsoft.com/office/drawing/2014/main" id="{8550FED7-7C32-42BB-98DB-30272A633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16518" y="104429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0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2198" y="1268720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42" name="Straight Connector 3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9322" y="6274341"/>
            <a:ext cx="11353800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rtalom helye 4">
            <a:extLst>
              <a:ext uri="{FF2B5EF4-FFF2-40B4-BE49-F238E27FC236}">
                <a16:creationId xmlns:a16="http://schemas.microsoft.com/office/drawing/2014/main" id="{F5441C1E-8E0C-4C66-F4F5-CBFF5E707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216113"/>
              </p:ext>
            </p:extLst>
          </p:nvPr>
        </p:nvGraphicFramePr>
        <p:xfrm>
          <a:off x="5859387" y="814999"/>
          <a:ext cx="5390249" cy="49126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34427">
                  <a:extLst>
                    <a:ext uri="{9D8B030D-6E8A-4147-A177-3AD203B41FA5}">
                      <a16:colId xmlns:a16="http://schemas.microsoft.com/office/drawing/2014/main" val="2810234290"/>
                    </a:ext>
                  </a:extLst>
                </a:gridCol>
                <a:gridCol w="1639818">
                  <a:extLst>
                    <a:ext uri="{9D8B030D-6E8A-4147-A177-3AD203B41FA5}">
                      <a16:colId xmlns:a16="http://schemas.microsoft.com/office/drawing/2014/main" val="2416559525"/>
                    </a:ext>
                  </a:extLst>
                </a:gridCol>
                <a:gridCol w="2116004">
                  <a:extLst>
                    <a:ext uri="{9D8B030D-6E8A-4147-A177-3AD203B41FA5}">
                      <a16:colId xmlns:a16="http://schemas.microsoft.com/office/drawing/2014/main" val="3373771613"/>
                    </a:ext>
                  </a:extLst>
                </a:gridCol>
              </a:tblGrid>
              <a:tr h="17111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hu-HU" sz="1400" b="1">
                          <a:solidFill>
                            <a:schemeClr val="bg1"/>
                          </a:solidFill>
                          <a:effectLst/>
                        </a:rPr>
                        <a:t>Pete András</a:t>
                      </a:r>
                      <a:endParaRPr lang="hu-HU" sz="14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67918" marR="113196" marT="70747" marB="7074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hu-HU" sz="1400" b="0">
                          <a:solidFill>
                            <a:schemeClr val="bg1"/>
                          </a:solidFill>
                          <a:effectLst/>
                        </a:rPr>
                        <a:t>🤔 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effectLst/>
                        </a:rPr>
                        <a:t>Gondolkozó</a:t>
                      </a:r>
                      <a:endParaRPr lang="hu-HU" sz="14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13196" marR="113196" marT="70747" marB="7074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hu-HU" sz="1400" b="0">
                          <a:solidFill>
                            <a:schemeClr val="bg1"/>
                          </a:solidFill>
                          <a:effectLst/>
                        </a:rPr>
                        <a:t>Backend</a:t>
                      </a:r>
                      <a:endParaRPr lang="hu-HU" sz="1400" b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13196" marR="67918" marT="70747" marB="70747" anchor="ctr"/>
                </a:tc>
                <a:extLst>
                  <a:ext uri="{0D108BD9-81ED-4DB2-BD59-A6C34878D82A}">
                    <a16:rowId xmlns:a16="http://schemas.microsoft.com/office/drawing/2014/main" val="3278208555"/>
                  </a:ext>
                </a:extLst>
              </a:tr>
              <a:tr h="17111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hu-HU" sz="1400" b="1">
                          <a:solidFill>
                            <a:schemeClr val="bg1"/>
                          </a:solidFill>
                          <a:effectLst/>
                        </a:rPr>
                        <a:t>Rein Nikolasz</a:t>
                      </a:r>
                      <a:endParaRPr lang="hu-HU" sz="14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67918" marR="113196" marT="70747" marB="7074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hu-HU" sz="1400" b="0">
                          <a:solidFill>
                            <a:schemeClr val="bg1"/>
                          </a:solidFill>
                          <a:effectLst/>
                        </a:rPr>
                        <a:t>🎨 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effectLst/>
                        </a:rPr>
                        <a:t>Megvalósító</a:t>
                      </a:r>
                      <a:endParaRPr lang="hu-HU" sz="14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13196" marR="113196" marT="70747" marB="7074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hu-HU" sz="1400" b="0">
                          <a:solidFill>
                            <a:schemeClr val="bg1"/>
                          </a:solidFill>
                          <a:effectLst/>
                        </a:rPr>
                        <a:t>Frontend (Új csoporttárs)</a:t>
                      </a:r>
                    </a:p>
                  </a:txBody>
                  <a:tcPr marL="113196" marR="67918" marT="70747" marB="70747" anchor="ctr"/>
                </a:tc>
                <a:extLst>
                  <a:ext uri="{0D108BD9-81ED-4DB2-BD59-A6C34878D82A}">
                    <a16:rowId xmlns:a16="http://schemas.microsoft.com/office/drawing/2014/main" val="1223866662"/>
                  </a:ext>
                </a:extLst>
              </a:tr>
              <a:tr h="14902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hu-HU" sz="1400" b="1">
                          <a:solidFill>
                            <a:schemeClr val="bg1"/>
                          </a:solidFill>
                          <a:effectLst/>
                        </a:rPr>
                        <a:t>Galambos Milán</a:t>
                      </a:r>
                      <a:endParaRPr lang="hu-HU" sz="14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67918" marR="113196" marT="70747" marB="7074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hu-HU" sz="1400" b="0">
                          <a:solidFill>
                            <a:schemeClr val="bg1"/>
                          </a:solidFill>
                          <a:effectLst/>
                        </a:rPr>
                        <a:t>📋 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effectLst/>
                        </a:rPr>
                        <a:t>Koordinátor</a:t>
                      </a:r>
                      <a:endParaRPr lang="hu-HU" sz="14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13196" marR="113196" marT="70747" marB="7074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hu-HU" sz="1400" b="0" dirty="0">
                          <a:solidFill>
                            <a:schemeClr val="bg1"/>
                          </a:solidFill>
                          <a:effectLst/>
                        </a:rPr>
                        <a:t>• Prezentáció készítés</a:t>
                      </a:r>
                      <a:br>
                        <a:rPr lang="hu-HU" sz="14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hu-HU" sz="1400" b="0" dirty="0">
                          <a:solidFill>
                            <a:schemeClr val="bg1"/>
                          </a:solidFill>
                          <a:effectLst/>
                        </a:rPr>
                        <a:t>• Csapatmunka </a:t>
                      </a:r>
                      <a:r>
                        <a:rPr lang="hu-HU" sz="1400" b="0">
                          <a:solidFill>
                            <a:schemeClr val="bg1"/>
                          </a:solidFill>
                          <a:effectLst/>
                        </a:rPr>
                        <a:t>összehangolása</a:t>
                      </a:r>
                      <a:br>
                        <a:rPr lang="hu-HU" sz="1400" b="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hu-HU" sz="1400" b="0">
                          <a:solidFill>
                            <a:schemeClr val="bg1"/>
                          </a:solidFill>
                          <a:effectLst/>
                        </a:rPr>
                        <a:t>• Mindenes</a:t>
                      </a:r>
                      <a:endParaRPr lang="hu-HU" sz="1400" b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13196" marR="67918" marT="70747" marB="70747" anchor="ctr"/>
                </a:tc>
                <a:extLst>
                  <a:ext uri="{0D108BD9-81ED-4DB2-BD59-A6C34878D82A}">
                    <a16:rowId xmlns:a16="http://schemas.microsoft.com/office/drawing/2014/main" val="3996898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349795"/>
      </p:ext>
    </p:extLst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 descr="A képen Jégkrém, Snack, képernyőkép, étel látható&#10;&#10;Lehet, hogy az AI által létrehozott tartalom helytelen.">
            <a:extLst>
              <a:ext uri="{FF2B5EF4-FFF2-40B4-BE49-F238E27FC236}">
                <a16:creationId xmlns:a16="http://schemas.microsoft.com/office/drawing/2014/main" id="{77B1E358-AEE2-7A5F-E131-2E40D6C762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72" r="7940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8" name="Rectangle 1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2F809EC-D23B-C7EF-237D-96C74507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 dirty="0" err="1">
                <a:solidFill>
                  <a:srgbClr val="FFFFFF"/>
                </a:solidFill>
              </a:rPr>
              <a:t>Elmúlt</a:t>
            </a:r>
            <a:r>
              <a:rPr lang="en-US" sz="5200" dirty="0">
                <a:solidFill>
                  <a:srgbClr val="FFFFFF"/>
                </a:solidFill>
              </a:rPr>
              <a:t> </a:t>
            </a:r>
            <a:r>
              <a:rPr lang="en-US" sz="5200" dirty="0" err="1">
                <a:solidFill>
                  <a:srgbClr val="FFFFFF"/>
                </a:solidFill>
              </a:rPr>
              <a:t>hónap</a:t>
            </a:r>
            <a:r>
              <a:rPr lang="en-US" sz="5200" dirty="0">
                <a:solidFill>
                  <a:srgbClr val="FFFFFF"/>
                </a:solidFill>
              </a:rPr>
              <a:t> </a:t>
            </a:r>
            <a:r>
              <a:rPr lang="en-US" sz="5200" dirty="0" err="1">
                <a:solidFill>
                  <a:srgbClr val="FFFFFF"/>
                </a:solidFill>
              </a:rPr>
              <a:t>újítása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C1F697E-1677-B235-DA12-54403962D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6" y="4551037"/>
            <a:ext cx="5449479" cy="15780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</a:rPr>
              <a:t>A </a:t>
            </a:r>
            <a:r>
              <a:rPr lang="en-US" sz="2400" dirty="0" err="1">
                <a:solidFill>
                  <a:srgbClr val="FFFFFF"/>
                </a:solidFill>
              </a:rPr>
              <a:t>galériában</a:t>
            </a:r>
            <a:r>
              <a:rPr lang="en-US" sz="2400" dirty="0">
                <a:solidFill>
                  <a:srgbClr val="FFFFFF"/>
                </a:solidFill>
              </a:rPr>
              <a:t> a </a:t>
            </a:r>
            <a:r>
              <a:rPr lang="en-US" sz="2400" dirty="0" err="1">
                <a:solidFill>
                  <a:srgbClr val="FFFFFF"/>
                </a:solidFill>
              </a:rPr>
              <a:t>képekre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kattintáskor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nagyban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megjelennek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47476"/>
      </p:ext>
    </p:extLst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Kép 3" descr="Rólunk">
            <a:extLst>
              <a:ext uri="{FF2B5EF4-FFF2-40B4-BE49-F238E27FC236}">
                <a16:creationId xmlns:a16="http://schemas.microsoft.com/office/drawing/2014/main" id="{1A381020-FA65-1966-8DCF-86EB6349A9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176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F07F837-223B-AAE5-4009-515190119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hu-HU">
                <a:solidFill>
                  <a:srgbClr val="FFFFFF"/>
                </a:solidFill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286666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5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6" baseType="lpstr">
      <vt:lpstr>Office-téma</vt:lpstr>
      <vt:lpstr>Sweet Dreams - Fagyizó</vt:lpstr>
      <vt:lpstr>POST működése </vt:lpstr>
      <vt:lpstr>Csapattagok és szerepek</vt:lpstr>
      <vt:lpstr>Elmúlt hónap újítása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210</cp:revision>
  <dcterms:created xsi:type="dcterms:W3CDTF">2026-03-15T18:15:43Z</dcterms:created>
  <dcterms:modified xsi:type="dcterms:W3CDTF">2026-03-15T19:14:19Z</dcterms:modified>
</cp:coreProperties>
</file>